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DM Sans Light"/>
      <p:regular r:id="rId201314"/>
    </p:embeddedFont>
    <p:embeddedFont>
      <p:font typeface="DM Sans"/>
      <p:regular r:id="rId201315"/>
    </p:embeddedFont>
    <p:embeddedFont>
      <p:font typeface="DM Sans Bold"/>
      <p:regular r:id="rId201316"/>
    </p:embeddedFont>
    <p:embeddedFont>
      <p:font typeface="Manrope Light"/>
      <p:regular r:id="rId201317"/>
    </p:embeddedFont>
    <p:embeddedFont>
      <p:font typeface="Manrope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467941"/>
            <a:ext cx="6296860" cy="3118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0" spc="-223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Sistema de Evaluación Docente</a:t>
            </a:r>
            <a:endParaRPr lang="en-US" sz="7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4870252"/>
            <a:ext cx="3373651" cy="519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1092895"/>
            <a:ext cx="1332177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149548"/>
            <a:ext cx="17149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INTRODUCCIÓN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455638"/>
            <a:ext cx="6296860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Descripción General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2258913"/>
            <a:ext cx="6296860" cy="1809750"/>
          </a:xfrm>
          <a:prstGeom prst="roundRect">
            <a:avLst>
              <a:gd name="adj" fmla="val 9400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50482" y="2447925"/>
            <a:ext cx="591884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¿Qué hace el programa?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2821186"/>
            <a:ext cx="591884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archivo 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evaluacion_docentes.py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simula un sistema de menús que permite consultar carreras, docentes y sus evaluaciones. Está organizado en funciones, cada una responsable de una parte del flujo.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44936" y="4493915"/>
            <a:ext cx="6013399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programa está dividido en funciones especializadas: leer datos del usuario, mostrar carreras y docentes, y mostrar/calcular evaluaciones. Esta separación de responsabilidades hace el código claro y mantenible.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81289"/>
            <a:ext cx="25399" cy="1483717"/>
          </a:xfrm>
          <a:prstGeom prst="roundRect">
            <a:avLst>
              <a:gd name="adj" fmla="val 50001"/>
            </a:avLst>
          </a:prstGeom>
          <a:solidFill>
            <a:srgbClr val="28D3C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85751"/>
            <a:ext cx="704535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142405"/>
            <a:ext cx="108731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48495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Estructuras de Datos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5177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Antes de cualquier función se definen tres diccionarios que funcionan como base de datos en memoria: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3402409"/>
            <a:ext cx="3534778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carreras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775670"/>
            <a:ext cx="353477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Asocia un número entero con el nombre de la carrera.</a:t>
            </a:r>
            <a:endParaRPr lang="en-US" sz="1450" dirty="0"/>
          </a:p>
          <a:p>
            <a:pPr algn="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{1: "Ingeniería en Sistemas", 2: "Administración de Empresas", 3: "Marketing"}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4267" y="2729012"/>
            <a:ext cx="3043161" cy="30432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95082" y="4014391"/>
            <a:ext cx="472468" cy="472480"/>
          </a:xfrm>
          <a:prstGeom prst="ellipse">
            <a:avLst/>
          </a:prstGeom>
          <a:solidFill>
            <a:srgbClr val="7FFFD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4956" y="4144268"/>
            <a:ext cx="212620" cy="2126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0889" y="2769195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docentes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900889" y="3142456"/>
            <a:ext cx="362933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Diccionario anidado: clave externa = número de carrera, clave interna = número de docente dentro de esa carrera.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267" y="2729012"/>
            <a:ext cx="3043161" cy="304323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591830" y="2745978"/>
            <a:ext cx="472468" cy="472480"/>
          </a:xfrm>
          <a:prstGeom prst="ellipse">
            <a:avLst/>
          </a:prstGeom>
          <a:solidFill>
            <a:srgbClr val="28D3C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1704" y="2875855"/>
            <a:ext cx="212620" cy="2126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900889" y="4564856"/>
            <a:ext cx="3629331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evaluaciones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7900889" y="4938117"/>
            <a:ext cx="3629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Guarda por nombre de docente una lista de notas numéricas.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{"Juan Perez": [8.5, 9.0, 7.5], ...}</a:t>
            </a:r>
            <a:endParaRPr lang="en-US" sz="14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4267" y="2729012"/>
            <a:ext cx="3043161" cy="304323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591830" y="5282704"/>
            <a:ext cx="472468" cy="472480"/>
          </a:xfrm>
          <a:prstGeom prst="ellipse">
            <a:avLst/>
          </a:prstGeom>
          <a:solidFill>
            <a:srgbClr val="6F8F99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1704" y="5412581"/>
            <a:ext cx="212620" cy="2126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868638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576461"/>
            <a:ext cx="12514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82551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leer_opcion_entera()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898452"/>
            <a:ext cx="8602745" cy="2192536"/>
          </a:xfrm>
          <a:prstGeom prst="roundRect">
            <a:avLst>
              <a:gd name="adj" fmla="val 775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88283" y="2087463"/>
            <a:ext cx="814912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leer_opcion_entera(mensaje):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valor = input(mensaje).strip()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valor.isdigit():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int(valor)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print("Entrada inválida, ingrese un número.")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731727" y="2036663"/>
            <a:ext cx="1804744" cy="1916013"/>
          </a:xfrm>
          <a:prstGeom prst="roundRect">
            <a:avLst>
              <a:gd name="adj" fmla="val 9426"/>
            </a:avLst>
          </a:prstGeom>
          <a:solidFill>
            <a:srgbClr val="6F8F99"/>
          </a:solidFill>
          <a:ln/>
        </p:spPr>
      </p:sp>
      <p:sp>
        <p:nvSpPr>
          <p:cNvPr id="8" name="Text 6"/>
          <p:cNvSpPr/>
          <p:nvPr/>
        </p:nvSpPr>
        <p:spPr>
          <a:xfrm>
            <a:off x="9920734" y="2253952"/>
            <a:ext cx="1426730" cy="148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usa cada vez que el programa necesita un número del usuario, evitando que se caiga si se escribe texto.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1475" y="451623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65" y="4587131"/>
            <a:ext cx="283461" cy="2834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75723" y="4598888"/>
            <a:ext cx="2851178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Paso 1 — Leer entrada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275723" y="4972149"/>
            <a:ext cx="2851178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 muestra el mensaje y se guarda lo escrito en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quitando espacios con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63135" y="451623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4025" y="4587131"/>
            <a:ext cx="283461" cy="2834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77383" y="4598888"/>
            <a:ext cx="2851178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Paso 2 — Validar dígitos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4977383" y="4972149"/>
            <a:ext cx="2851178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son solo dígitos (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.isdigit()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), se convierte a entero con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se devuelve.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64794" y="4516239"/>
            <a:ext cx="425241" cy="425252"/>
          </a:xfrm>
          <a:prstGeom prst="roundRect">
            <a:avLst>
              <a:gd name="adj" fmla="val 40005"/>
            </a:avLst>
          </a:prstGeom>
          <a:solidFill>
            <a:srgbClr val="D4F7F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5684" y="4587131"/>
            <a:ext cx="283461" cy="2834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79042" y="4598888"/>
            <a:ext cx="2851178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Paso 3 — Reintentar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8679042" y="4972149"/>
            <a:ext cx="2851178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 no son dígitos, se avisa al usuario y el bucle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vuelve a pedir el dato.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8304"/>
            <a:ext cx="855343" cy="282674"/>
          </a:xfrm>
          <a:prstGeom prst="roundRect">
            <a:avLst>
              <a:gd name="adj" fmla="val 47393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3093" y="614065"/>
            <a:ext cx="124169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4202"/>
            <a:ext cx="10868745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50" spc="-110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menu_carreras()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1700510"/>
            <a:ext cx="11478330" cy="258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Controla todo el flujo de selección de carrera y docente.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2164854"/>
            <a:ext cx="372061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2427684"/>
            <a:ext cx="5342796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571452"/>
            <a:ext cx="534279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Confirmar intención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475" y="2937073"/>
            <a:ext cx="53427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Pregunta si el usuario quiere seleccionar una carrera. Si la respuesta no es "SI", la función termina y regresa al menú principal.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187424" y="2164854"/>
            <a:ext cx="372061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187424" y="2427684"/>
            <a:ext cx="5342796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2" name="Text 10"/>
          <p:cNvSpPr/>
          <p:nvPr/>
        </p:nvSpPr>
        <p:spPr>
          <a:xfrm>
            <a:off x="6187424" y="2571452"/>
            <a:ext cx="534279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Mostrar carreras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87424" y="2937073"/>
            <a:ext cx="53427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Recorre el diccionario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carreras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 un ciclo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muestra cada número junto a su nombre.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1475" y="3673078"/>
            <a:ext cx="372061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3935909"/>
            <a:ext cx="5342796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4079677"/>
            <a:ext cx="534279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Validar carrera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1475" y="4445298"/>
            <a:ext cx="53427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Pide el número de carrera con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leer_opcion_entera()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valida que ese número exista dentro de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carreras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87424" y="3673078"/>
            <a:ext cx="372061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87424" y="3935909"/>
            <a:ext cx="5342796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0" name="Text 18"/>
          <p:cNvSpPr/>
          <p:nvPr/>
        </p:nvSpPr>
        <p:spPr>
          <a:xfrm>
            <a:off x="6187424" y="4079677"/>
            <a:ext cx="5342796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Mostrar docentes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87424" y="4445298"/>
            <a:ext cx="5342796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 la carrera validada, recorre 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docentes[indice_carrera]</a:t>
            </a:r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mostrar los docentes de esa carrera.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1475" y="5181302"/>
            <a:ext cx="372061" cy="204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44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61475" y="5444133"/>
            <a:ext cx="10868745" cy="25400"/>
          </a:xfrm>
          <a:prstGeom prst="rect">
            <a:avLst/>
          </a:prstGeom>
          <a:solidFill>
            <a:srgbClr val="28D3C9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587901"/>
            <a:ext cx="10868745" cy="255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00" spc="-55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Seleccionar docente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1475" y="5953522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Pregunta si desea seleccionar un docente, pide el número y valida que exista. Muestra el nombre como confirmación.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0111"/>
            <a:ext cx="868638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626765"/>
            <a:ext cx="12514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FUNCIÓN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32855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menu_evaluaciones()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361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Submenú independiente con su propio ciclo 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que puede repetirse sin volver al menú principal.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13372"/>
            <a:ext cx="3465426" cy="21418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591447"/>
            <a:ext cx="346542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Opción 1: Mostrar evaluaciones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4964708"/>
            <a:ext cx="3465426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Pide el nombre del docente, busca sus notas en 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evaluaciones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calcula el promedio con 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sum(notas) / len(notas)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Si el nombre no existe, informa al usuario.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13372"/>
            <a:ext cx="3465426" cy="21418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3135" y="4591447"/>
            <a:ext cx="346542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Consultar de nuevo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363135" y="4964708"/>
            <a:ext cx="346542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Tras mostrar el resultado, pregunta si se desea volver a consultar. Si la respuesta no es "SI", se sale del ciclo con 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13372"/>
            <a:ext cx="3465426" cy="21418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4591447"/>
            <a:ext cx="3465426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Opción 2: Regresar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064794" y="4964708"/>
            <a:ext cx="346542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 la opción elegida es 2, imprime el mensaje de regreso y rompe el ciclo con 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Cualquier otro número muestra "Opción no válida".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1327448"/>
            <a:ext cx="868638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1384102"/>
            <a:ext cx="12514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FUNCIÓN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690191"/>
            <a:ext cx="6296860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main() y Punto de Arranque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5233360" y="2493466"/>
            <a:ext cx="1972915" cy="3036987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7" name="Shape 4"/>
          <p:cNvSpPr/>
          <p:nvPr/>
        </p:nvSpPr>
        <p:spPr>
          <a:xfrm>
            <a:off x="5422367" y="2682478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78335" y="2838450"/>
            <a:ext cx="255085" cy="2550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22367" y="3438525"/>
            <a:ext cx="1594902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Bienvenida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422367" y="3811786"/>
            <a:ext cx="1594902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Imprime el mensaje de bienvenida una sola vez, antes del ciclo principal.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95283" y="2493466"/>
            <a:ext cx="1972915" cy="3036987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2" name="Shape 8"/>
          <p:cNvSpPr/>
          <p:nvPr/>
        </p:nvSpPr>
        <p:spPr>
          <a:xfrm>
            <a:off x="7584290" y="2682478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0258" y="2838450"/>
            <a:ext cx="255085" cy="2550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84290" y="3438525"/>
            <a:ext cx="1594902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Menú principal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7584290" y="3811786"/>
            <a:ext cx="1594902" cy="126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Dentro de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muestra tres opciones y llama a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menu_carreras()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menu_evaluaciones()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 termina con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9557205" y="2493466"/>
            <a:ext cx="1972915" cy="3036987"/>
          </a:xfrm>
          <a:prstGeom prst="roundRect">
            <a:avLst>
              <a:gd name="adj" fmla="val 8623"/>
            </a:avLst>
          </a:prstGeom>
          <a:solidFill>
            <a:srgbClr val="D4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9746212" y="2682478"/>
            <a:ext cx="567021" cy="56703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2180" y="2838450"/>
            <a:ext cx="255085" cy="2550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746212" y="3438525"/>
            <a:ext cx="159490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if __name__ == "__main__"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9746212" y="4071640"/>
            <a:ext cx="1594902" cy="126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Garantiza que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 ejecute solo cuando el archivo se corre directamente, y no si se importa desde otro script.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48076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81930"/>
                </a:lnTo>
                <a:lnTo>
                  <a:pt x="95020" y="85250"/>
                </a:lnTo>
                <a:lnTo>
                  <a:pt x="90920" y="87600"/>
                </a:lnTo>
                <a:lnTo>
                  <a:pt x="88960" y="88480"/>
                </a:lnTo>
                <a:lnTo>
                  <a:pt x="88870" y="88670"/>
                </a:lnTo>
                <a:lnTo>
                  <a:pt x="83400" y="91210"/>
                </a:lnTo>
                <a:lnTo>
                  <a:pt x="76070" y="93950"/>
                </a:lnTo>
                <a:lnTo>
                  <a:pt x="69820" y="95700"/>
                </a:lnTo>
                <a:lnTo>
                  <a:pt x="63480" y="96970"/>
                </a:lnTo>
                <a:lnTo>
                  <a:pt x="57130" y="97750"/>
                </a:lnTo>
                <a:lnTo>
                  <a:pt x="50200" y="98050"/>
                </a:lnTo>
                <a:lnTo>
                  <a:pt x="44240" y="97850"/>
                </a:lnTo>
                <a:lnTo>
                  <a:pt x="38480" y="97270"/>
                </a:lnTo>
                <a:lnTo>
                  <a:pt x="32810" y="96290"/>
                </a:lnTo>
                <a:lnTo>
                  <a:pt x="25200" y="94340"/>
                </a:lnTo>
                <a:lnTo>
                  <a:pt x="19530" y="92380"/>
                </a:lnTo>
                <a:lnTo>
                  <a:pt x="13960" y="90040"/>
                </a:lnTo>
                <a:lnTo>
                  <a:pt x="7320" y="86620"/>
                </a:lnTo>
                <a:lnTo>
                  <a:pt x="290" y="82230"/>
                </a:lnTo>
                <a:lnTo>
                  <a:pt x="0" y="8193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61475" y="2882503"/>
            <a:ext cx="1035719" cy="287139"/>
          </a:xfrm>
          <a:prstGeom prst="roundRect">
            <a:avLst>
              <a:gd name="adj" fmla="val 47396"/>
            </a:avLst>
          </a:prstGeom>
          <a:solidFill>
            <a:srgbClr val="D4F7F5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2939157"/>
            <a:ext cx="141849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EJECUCIÓN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245247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700" spc="-112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Cómo Ejecutarlo en Visual Studio Code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4615557"/>
            <a:ext cx="3496877" cy="189012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7" name="Text 4"/>
          <p:cNvSpPr/>
          <p:nvPr/>
        </p:nvSpPr>
        <p:spPr>
          <a:xfrm>
            <a:off x="850482" y="4993580"/>
            <a:ext cx="311886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Abrir la carpeta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5366841"/>
            <a:ext cx="3118863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Abrir en VS Code la carpeta que contiene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evaluacion_docentes.py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verificar que la extensión de Python esté instalada.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7359" y="4331990"/>
            <a:ext cx="3496877" cy="189012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10" name="Text 7"/>
          <p:cNvSpPr/>
          <p:nvPr/>
        </p:nvSpPr>
        <p:spPr>
          <a:xfrm>
            <a:off x="4536366" y="4710013"/>
            <a:ext cx="311886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Abrir la terminal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4536366" y="5083274"/>
            <a:ext cx="3118863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Abrir una terminal integrada con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Ctrl + ñ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 desde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&gt; New Terminal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33244" y="4048522"/>
            <a:ext cx="3496877" cy="189012"/>
          </a:xfrm>
          <a:prstGeom prst="roundRect">
            <a:avLst>
              <a:gd name="adj" fmla="val 49999"/>
            </a:avLst>
          </a:prstGeom>
          <a:solidFill>
            <a:srgbClr val="D4F7F5"/>
          </a:solidFill>
          <a:ln/>
        </p:spPr>
      </p:sp>
      <p:sp>
        <p:nvSpPr>
          <p:cNvPr id="13" name="Text 10"/>
          <p:cNvSpPr/>
          <p:nvPr/>
        </p:nvSpPr>
        <p:spPr>
          <a:xfrm>
            <a:off x="8222251" y="4426545"/>
            <a:ext cx="3118863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850" spc="-56" kern="0" dirty="0">
                <a:solidFill>
                  <a:srgbClr val="272525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Ejecutar el programa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222251" y="4799806"/>
            <a:ext cx="3118863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Escribir 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evaluacion_docentes.py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presionar Enter. Interactuar con el menú escribiendo las opciones en la terminal.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2026-08-11T18:01:16Z</dcterms:created>
  <dcterms:modified xsi:type="dcterms:W3CDTF">2026-08-11T18:01:16Z</dcterms:modified>
</cp:coreProperties>
</file>