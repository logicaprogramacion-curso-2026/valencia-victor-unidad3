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Public Sans Light"/>
      <p:regular r:id="rId201314"/>
    </p:embeddedFont>
    <p:embeddedFont>
      <p:font typeface="Public Sans"/>
      <p:regular r:id="rId201315"/>
    </p:embeddedFont>
    <p:embeddedFont>
      <p:font typeface="Public Sans Bold"/>
      <p:regular r:id="rId201316"/>
    </p:embeddedFont>
    <p:embeddedFont>
      <p:font typeface="Source Serif 4 Light"/>
      <p:regular r:id="rId201317"/>
    </p:embeddedFont>
    <p:embeddedFont>
      <p:font typeface="Source Serif 4"/>
      <p:regular r:id="rId201318"/>
    </p:embeddedFont>
    <p:embeddedFont>
      <p:font typeface="Source Serif 4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9.png"/><Relationship Id="rId14" Type="http://schemas.openxmlformats.org/officeDocument/2006/relationships/image" Target="../media/image-2-10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36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82503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4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Taller 10</a:t>
            </a:r>
            <a:endParaRPr lang="en-US" sz="7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134" y="4347369"/>
            <a:ext cx="3085427" cy="5198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507980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43942"/>
            <a:ext cx="1155076" cy="243979"/>
          </a:xfrm>
          <a:prstGeom prst="roundRect">
            <a:avLst>
              <a:gd name="adj" fmla="val 7902"/>
            </a:avLst>
          </a:prstGeom>
          <a:solidFill>
            <a:srgbClr val="F5E6CC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792063"/>
            <a:ext cx="1571983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42491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¿De qué trata esta actividad?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749326"/>
            <a:ext cx="10868745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En el desarrollo de esta actividad se trabajó en la elaboración de un </a:t>
            </a:r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diagrama de flujo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relacionado con un sistema de evaluación de docentes. El objetivo fue representar gráficamente el funcionamiento y la secuencia de las diferentes opciones que puede realizar un usuario dentro del sistema.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26804"/>
            <a:ext cx="5366112" cy="162133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8043" y="2671366"/>
            <a:ext cx="192777" cy="1927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156" y="3169444"/>
            <a:ext cx="500675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Apoyo con IA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841156" y="3552527"/>
            <a:ext cx="5006751" cy="415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Se utilizó la Inteligencia Artificial como herramienta de apoyo para organizar ideas y establecer la estructura del diagrama de flujo.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4108" y="2526804"/>
            <a:ext cx="5366112" cy="1621334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0676" y="2671366"/>
            <a:ext cx="192777" cy="19278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43789" y="3169444"/>
            <a:ext cx="500675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Elaboración Manual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6343789" y="3552527"/>
            <a:ext cx="5006751" cy="415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El diagrama fue elaborado de forma manual en una hoja de papel, representando procesos, decisiones y opciones del sistema.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284663"/>
            <a:ext cx="5366112" cy="1829296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48043" y="4429224"/>
            <a:ext cx="192777" cy="19278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41156" y="4927302"/>
            <a:ext cx="500675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Pseudocódigo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841156" y="5310386"/>
            <a:ext cx="5006751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partir del diagrama se construyó un pseudocódigo que representa la misma lógica del sistema con instrucciones ordenadas.</a:t>
            </a:r>
            <a:endParaRPr lang="en-US" sz="12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64108" y="4284663"/>
            <a:ext cx="5366112" cy="1829296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50676" y="4429224"/>
            <a:ext cx="192777" cy="19278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343789" y="4927302"/>
            <a:ext cx="500675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Repositorio</a:t>
            </a:r>
            <a:endParaRPr lang="en-US" sz="1850" dirty="0"/>
          </a:p>
        </p:txBody>
      </p:sp>
      <p:sp>
        <p:nvSpPr>
          <p:cNvPr id="21" name="Text 11"/>
          <p:cNvSpPr/>
          <p:nvPr/>
        </p:nvSpPr>
        <p:spPr>
          <a:xfrm>
            <a:off x="6343789" y="5310386"/>
            <a:ext cx="5006751" cy="415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Se creó una carpeta en el repositorio para almacenar el pseudocódigo y mantener el trabajo organizado.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77204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411413"/>
            <a:ext cx="916262" cy="215305"/>
          </a:xfrm>
          <a:prstGeom prst="roundRect">
            <a:avLst>
              <a:gd name="adj" fmla="val 7901"/>
            </a:avLst>
          </a:prstGeom>
          <a:solidFill>
            <a:srgbClr val="F5E6CC"/>
          </a:solidFill>
          <a:ln/>
        </p:spPr>
      </p:sp>
      <p:sp>
        <p:nvSpPr>
          <p:cNvPr id="4" name="Text 1"/>
          <p:cNvSpPr/>
          <p:nvPr/>
        </p:nvSpPr>
        <p:spPr>
          <a:xfrm>
            <a:off x="746503" y="2453878"/>
            <a:ext cx="135579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DESARROLLO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2669183"/>
            <a:ext cx="5261439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Elaboración del Diagrama de Flujo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61475" y="3661470"/>
            <a:ext cx="5261439" cy="790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Primero se planteó la idea general del sistema de evaluación de docentes. Con apoyo de la IA se definió la secuencia lógica de procesos y decisiones. Luego se realizó el </a:t>
            </a:r>
            <a:pPr algn="l" indent="0" marL="0">
              <a:lnSpc>
                <a:spcPct val="102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diagrama manualmente en papel</a:t>
            </a:r>
            <a:pPr algn="l" indent="0" marL="0">
              <a:lnSpc>
                <a:spcPct val="102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El diagrama contiene: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1475" y="4547295"/>
            <a:ext cx="5261439" cy="101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Inicio del proceso</a:t>
            </a:r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y menú de opciones</a:t>
            </a:r>
            <a:endParaRPr lang="en-US" sz="1100" dirty="0"/>
          </a:p>
          <a:p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Selección de carrera</a:t>
            </a:r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 especialidad</a:t>
            </a:r>
            <a:endParaRPr lang="en-US" sz="1100" dirty="0"/>
          </a:p>
          <a:p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Selección de un docente</a:t>
            </a:r>
            <a:endParaRPr lang="en-US" sz="1100" dirty="0"/>
          </a:p>
          <a:p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Visualización de evaluaciones</a:t>
            </a:r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correspondientes</a:t>
            </a:r>
            <a:endParaRPr lang="en-US" sz="1100" dirty="0"/>
          </a:p>
          <a:p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Puntos de decisión</a:t>
            </a:r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con opciones "Sí" o "No"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1475" y="5659934"/>
            <a:ext cx="526143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Dependiendo de la respuesta, el flujo continúa hacia una acción determinada o regresa al menú principal.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836" y="2411413"/>
            <a:ext cx="3946029" cy="19398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63730" y="2587630"/>
            <a:ext cx="902411" cy="112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8863730" y="2732521"/>
            <a:ext cx="1824876" cy="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5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Usuario sale del sistema</a:t>
            </a:r>
            <a:endParaRPr lang="en-US" sz="550" dirty="0"/>
          </a:p>
        </p:txBody>
      </p:sp>
      <p:sp>
        <p:nvSpPr>
          <p:cNvPr id="12" name="Text 8"/>
          <p:cNvSpPr/>
          <p:nvPr/>
        </p:nvSpPr>
        <p:spPr>
          <a:xfrm>
            <a:off x="8863730" y="3040853"/>
            <a:ext cx="902411" cy="112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Decisión Sí/No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8863730" y="3185744"/>
            <a:ext cx="1824876" cy="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5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Mostrar evaluaciones o volver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8863730" y="3494075"/>
            <a:ext cx="902411" cy="112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Selección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8863730" y="3638966"/>
            <a:ext cx="1824876" cy="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5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Elige carrera y docente</a:t>
            </a:r>
            <a:endParaRPr lang="en-US" sz="550" dirty="0"/>
          </a:p>
        </p:txBody>
      </p:sp>
      <p:sp>
        <p:nvSpPr>
          <p:cNvPr id="16" name="Text 12"/>
          <p:cNvSpPr/>
          <p:nvPr/>
        </p:nvSpPr>
        <p:spPr>
          <a:xfrm>
            <a:off x="8867741" y="3947297"/>
            <a:ext cx="902411" cy="112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Inicio y Menú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8867741" y="4092188"/>
            <a:ext cx="1824876" cy="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5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Usuario accede y ve opciones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19807"/>
            <a:ext cx="1130867" cy="229691"/>
          </a:xfrm>
          <a:prstGeom prst="roundRect">
            <a:avLst>
              <a:gd name="adj" fmla="val 7900"/>
            </a:avLst>
          </a:prstGeom>
          <a:solidFill>
            <a:srgbClr val="F5E6CC"/>
          </a:solidFill>
          <a:ln/>
        </p:spPr>
      </p:sp>
      <p:sp>
        <p:nvSpPr>
          <p:cNvPr id="4" name="Text 1"/>
          <p:cNvSpPr/>
          <p:nvPr/>
        </p:nvSpPr>
        <p:spPr>
          <a:xfrm>
            <a:off x="752159" y="565150"/>
            <a:ext cx="155908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PSEUDOCÓDIGO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797818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Del Diagrama al Pseudocódigo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61475" y="1451670"/>
            <a:ext cx="62968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Como siguiente parte de la actividad, se tomó como referencia el diagrama de flujo elaborado para construir un 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pseudocódigo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que representara la misma lógica del sistema.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31532" y="1968698"/>
            <a:ext cx="19050" cy="3786783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982588" y="2129234"/>
            <a:ext cx="453617" cy="19050"/>
          </a:xfrm>
          <a:prstGeom prst="roundRect">
            <a:avLst>
              <a:gd name="adj" fmla="val 49999"/>
            </a:avLst>
          </a:prstGeom>
          <a:solidFill>
            <a:srgbClr val="262626"/>
          </a:solidFill>
          <a:ln/>
        </p:spPr>
      </p:sp>
      <p:sp>
        <p:nvSpPr>
          <p:cNvPr id="9" name="Shape 6"/>
          <p:cNvSpPr/>
          <p:nvPr/>
        </p:nvSpPr>
        <p:spPr>
          <a:xfrm>
            <a:off x="661425" y="1968698"/>
            <a:ext cx="340213" cy="340221"/>
          </a:xfrm>
          <a:prstGeom prst="roundRect">
            <a:avLst>
              <a:gd name="adj" fmla="val 6667"/>
            </a:avLst>
          </a:prstGeom>
          <a:solidFill>
            <a:srgbClr val="0D0D0D"/>
          </a:solidFill>
          <a:ln/>
        </p:spPr>
      </p:sp>
      <p:sp>
        <p:nvSpPr>
          <p:cNvPr id="10" name="Text 7"/>
          <p:cNvSpPr/>
          <p:nvPr/>
        </p:nvSpPr>
        <p:spPr>
          <a:xfrm>
            <a:off x="718078" y="199702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587659" y="1996976"/>
            <a:ext cx="5370676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Referencia Visual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587659" y="2352973"/>
            <a:ext cx="53706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El diagrama de flujo sirvió como guía gráfica para identificar cada proceso y punto de decisión del sistema.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82588" y="3136404"/>
            <a:ext cx="453617" cy="19050"/>
          </a:xfrm>
          <a:prstGeom prst="roundRect">
            <a:avLst>
              <a:gd name="adj" fmla="val 49999"/>
            </a:avLst>
          </a:prstGeom>
          <a:solidFill>
            <a:srgbClr val="344F76"/>
          </a:solidFill>
          <a:ln/>
        </p:spPr>
      </p:sp>
      <p:sp>
        <p:nvSpPr>
          <p:cNvPr id="14" name="Shape 11"/>
          <p:cNvSpPr/>
          <p:nvPr/>
        </p:nvSpPr>
        <p:spPr>
          <a:xfrm>
            <a:off x="661425" y="2975868"/>
            <a:ext cx="340213" cy="340221"/>
          </a:xfrm>
          <a:prstGeom prst="roundRect">
            <a:avLst>
              <a:gd name="adj" fmla="val 6667"/>
            </a:avLst>
          </a:prstGeom>
          <a:solidFill>
            <a:srgbClr val="1B365D"/>
          </a:solidFill>
          <a:ln/>
        </p:spPr>
      </p:sp>
      <p:sp>
        <p:nvSpPr>
          <p:cNvPr id="15" name="Text 12"/>
          <p:cNvSpPr/>
          <p:nvPr/>
        </p:nvSpPr>
        <p:spPr>
          <a:xfrm>
            <a:off x="718078" y="300419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587659" y="3004145"/>
            <a:ext cx="5370676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Estructuras de Control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1587659" y="3360142"/>
            <a:ext cx="53706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Se utilizaron condicionales 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Si / SiNo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estructuras de selección mediante 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Segun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y ciclos de repetición para mantener el menú activo.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82588" y="4143573"/>
            <a:ext cx="453617" cy="19050"/>
          </a:xfrm>
          <a:prstGeom prst="roundRect">
            <a:avLst>
              <a:gd name="adj" fmla="val 49999"/>
            </a:avLst>
          </a:prstGeom>
          <a:solidFill>
            <a:srgbClr val="344F76"/>
          </a:solidFill>
          <a:ln/>
        </p:spPr>
      </p:sp>
      <p:sp>
        <p:nvSpPr>
          <p:cNvPr id="19" name="Shape 16"/>
          <p:cNvSpPr/>
          <p:nvPr/>
        </p:nvSpPr>
        <p:spPr>
          <a:xfrm>
            <a:off x="661425" y="3983038"/>
            <a:ext cx="340213" cy="340221"/>
          </a:xfrm>
          <a:prstGeom prst="roundRect">
            <a:avLst>
              <a:gd name="adj" fmla="val 6667"/>
            </a:avLst>
          </a:prstGeom>
          <a:solidFill>
            <a:srgbClr val="1B365D"/>
          </a:solidFill>
          <a:ln/>
        </p:spPr>
      </p:sp>
      <p:sp>
        <p:nvSpPr>
          <p:cNvPr id="20" name="Text 17"/>
          <p:cNvSpPr/>
          <p:nvPr/>
        </p:nvSpPr>
        <p:spPr>
          <a:xfrm>
            <a:off x="718078" y="401136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1587659" y="4011315"/>
            <a:ext cx="5370676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Lógica del Sistema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1587659" y="4367312"/>
            <a:ext cx="53706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El pseudocódigo mantiene la lógica del diagrama, permitiendo comprender de forma cercana a la programación cómo funcionaría el sistema.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82588" y="5150743"/>
            <a:ext cx="453617" cy="19050"/>
          </a:xfrm>
          <a:prstGeom prst="roundRect">
            <a:avLst>
              <a:gd name="adj" fmla="val 49999"/>
            </a:avLst>
          </a:prstGeom>
          <a:solidFill>
            <a:srgbClr val="262626"/>
          </a:solidFill>
          <a:ln/>
        </p:spPr>
      </p:sp>
      <p:sp>
        <p:nvSpPr>
          <p:cNvPr id="24" name="Shape 21"/>
          <p:cNvSpPr/>
          <p:nvPr/>
        </p:nvSpPr>
        <p:spPr>
          <a:xfrm>
            <a:off x="661425" y="4990207"/>
            <a:ext cx="340213" cy="340221"/>
          </a:xfrm>
          <a:prstGeom prst="roundRect">
            <a:avLst>
              <a:gd name="adj" fmla="val 6667"/>
            </a:avLst>
          </a:prstGeom>
          <a:solidFill>
            <a:srgbClr val="0D0D0D"/>
          </a:solidFill>
          <a:ln/>
        </p:spPr>
      </p:sp>
      <p:sp>
        <p:nvSpPr>
          <p:cNvPr id="25" name="Text 22"/>
          <p:cNvSpPr/>
          <p:nvPr/>
        </p:nvSpPr>
        <p:spPr>
          <a:xfrm>
            <a:off x="718078" y="501853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1750" dirty="0"/>
          </a:p>
        </p:txBody>
      </p:sp>
      <p:sp>
        <p:nvSpPr>
          <p:cNvPr id="26" name="Text 23"/>
          <p:cNvSpPr/>
          <p:nvPr/>
        </p:nvSpPr>
        <p:spPr>
          <a:xfrm>
            <a:off x="1587659" y="5018484"/>
            <a:ext cx="5370676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Resultado Final</a:t>
            </a:r>
            <a:endParaRPr lang="en-US" sz="1750" dirty="0"/>
          </a:p>
        </p:txBody>
      </p:sp>
      <p:sp>
        <p:nvSpPr>
          <p:cNvPr id="27" name="Text 24"/>
          <p:cNvSpPr/>
          <p:nvPr/>
        </p:nvSpPr>
        <p:spPr>
          <a:xfrm>
            <a:off x="1587659" y="5374481"/>
            <a:ext cx="53706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El pseudocódigo transforma la representación gráfica en instrucciones ordenadas, listas para convertirse en código real.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46026"/>
            <a:ext cx="975990" cy="229691"/>
          </a:xfrm>
          <a:prstGeom prst="roundRect">
            <a:avLst>
              <a:gd name="adj" fmla="val 7900"/>
            </a:avLst>
          </a:prstGeom>
          <a:solidFill>
            <a:srgbClr val="F5E6CC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791369"/>
            <a:ext cx="140420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REPOSITORIO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02403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Organización en el Repositorio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677888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Para mantener organizada la evidencia y el código desarrollado durante la actividad, se creó una carpeta dentro del repositorio con la siguiente estructura: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731" y="2004417"/>
            <a:ext cx="8604134" cy="3590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39607" y="2169883"/>
            <a:ext cx="1978339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Repositorio Principal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39607" y="2483991"/>
            <a:ext cx="3353476" cy="35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2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Raíz del proyecto con todo el código y evidencia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39743" y="3338276"/>
            <a:ext cx="1956329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Carpeta Deber_6-P3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39743" y="3652384"/>
            <a:ext cx="3353475" cy="17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2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Carpeta creada para la actividad específica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39743" y="4543488"/>
            <a:ext cx="1956329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Pseudocódigo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39743" y="4857595"/>
            <a:ext cx="3353475" cy="176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2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Archivo del sistema de evaluación docente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1475" y="5730875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La carpeta se denominó 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Deber_6-P3 Pseudocodigo del Taller 10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y dentro de ella se almacenó el pseudocódigo desarrollado a partir del diagrama de flujo. Esto permite mantener una estructura organizada del trabajo y facilita su revisión posteriormente.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126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646263"/>
            <a:ext cx="797897" cy="258465"/>
          </a:xfrm>
          <a:prstGeom prst="roundRect">
            <a:avLst>
              <a:gd name="adj" fmla="val 7898"/>
            </a:avLst>
          </a:prstGeom>
          <a:solidFill>
            <a:srgbClr val="F5E6CC"/>
          </a:solidFill>
          <a:ln/>
        </p:spPr>
      </p:sp>
      <p:sp>
        <p:nvSpPr>
          <p:cNvPr id="4" name="Text 1"/>
          <p:cNvSpPr/>
          <p:nvPr/>
        </p:nvSpPr>
        <p:spPr>
          <a:xfrm>
            <a:off x="763469" y="2697262"/>
            <a:ext cx="1203493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IMPACTO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2965946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 que se logró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61475" y="3727152"/>
            <a:ext cx="1086874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La realización de esta actividad permitió fortalecer habilidades clave en el análisis de problemas y su solución mediante representaciones lógicas.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6195" y="4436864"/>
            <a:ext cx="3145850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0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61475" y="5198070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Representaciones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61475" y="5555555"/>
            <a:ext cx="3495389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Se trabajaron dos formas de representar la misma lógica: el diagrama de flujo gráfico y el pseudocódigo estructurado.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22873" y="4436864"/>
            <a:ext cx="3145850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0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348153" y="5198070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Herramientas Usadas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348153" y="5555555"/>
            <a:ext cx="3495389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Se combinaron la Inteligencia Artificial, el trabajo manual en papel y la organización en repositorio para completar la actividad.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09551" y="4436864"/>
            <a:ext cx="3145850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0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8034831" y="5198070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Taller Entregado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034831" y="5555555"/>
            <a:ext cx="3495389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Los archivos fueron enviados a la tarea </a:t>
            </a:r>
            <a:pPr algn="ctr" indent="0" marL="0">
              <a:lnSpc>
                <a:spcPct val="111000"/>
              </a:lnSpc>
              <a:buNone/>
            </a:pPr>
            <a:r>
              <a:rPr lang="en-US" sz="130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"Taller 10 Diagrama de Flujo y funciones"</a:t>
            </a:r>
            <a:pPr algn="ctr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como evidencia del trabajo realizado.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748407"/>
            <a:ext cx="966565" cy="229691"/>
          </a:xfrm>
          <a:prstGeom prst="roundRect">
            <a:avLst>
              <a:gd name="adj" fmla="val 7900"/>
            </a:avLst>
          </a:prstGeom>
          <a:solidFill>
            <a:srgbClr val="F5E6CC"/>
          </a:solidFill>
          <a:ln/>
        </p:spPr>
      </p:sp>
      <p:sp>
        <p:nvSpPr>
          <p:cNvPr id="4" name="Text 1"/>
          <p:cNvSpPr/>
          <p:nvPr/>
        </p:nvSpPr>
        <p:spPr>
          <a:xfrm>
            <a:off x="5324044" y="793750"/>
            <a:ext cx="13947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CONCLUSIÓN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233360" y="1026418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Reflexiones Finales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5233360" y="1680270"/>
            <a:ext cx="62968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La realización de esta actividad permitió comprender la relación existente entre un 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diagrama de flujo y un pseudocódigo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ya que ambos representan la misma lógica de un proceso utilizando diferentes formas de representación.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233360" y="2387798"/>
            <a:ext cx="340213" cy="340221"/>
          </a:xfrm>
          <a:prstGeom prst="roundRect">
            <a:avLst>
              <a:gd name="adj" fmla="val 6667"/>
            </a:avLst>
          </a:prstGeom>
          <a:solidFill>
            <a:srgbClr val="1B365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0013" y="2444403"/>
            <a:ext cx="226808" cy="226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94518" y="2439690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Diagrama de Flujo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694518" y="2748459"/>
            <a:ext cx="58357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Permitió visualizar gráficamente las acciones y decisiones del sistema de evaluación de docentes de manera clara e intuitiva.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233360" y="3371354"/>
            <a:ext cx="340213" cy="340221"/>
          </a:xfrm>
          <a:prstGeom prst="roundRect">
            <a:avLst>
              <a:gd name="adj" fmla="val 6667"/>
            </a:avLst>
          </a:prstGeom>
          <a:solidFill>
            <a:srgbClr val="1B365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0013" y="3427958"/>
            <a:ext cx="226808" cy="2268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94518" y="3423245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Pseudocódigo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5694518" y="3732014"/>
            <a:ext cx="58357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Permitió expresar esa misma lógica mediante instrucciones estructuradas, acercándose a la programación real con condicionales y ciclos.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233360" y="4354909"/>
            <a:ext cx="340213" cy="340221"/>
          </a:xfrm>
          <a:prstGeom prst="roundRect">
            <a:avLst>
              <a:gd name="adj" fmla="val 6667"/>
            </a:avLst>
          </a:prstGeom>
          <a:solidFill>
            <a:srgbClr val="1B365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0013" y="4411514"/>
            <a:ext cx="226808" cy="22681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94518" y="4406801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Uso de la IA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5694518" y="4715570"/>
            <a:ext cx="58357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La Inteligencia Artificial sirvió como herramienta de apoyo durante la planificación y organización de ideas, optimizando el proceso de trabajo.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233360" y="5232598"/>
            <a:ext cx="6296860" cy="876895"/>
          </a:xfrm>
          <a:prstGeom prst="roundRect">
            <a:avLst>
              <a:gd name="adj" fmla="val 2587"/>
            </a:avLst>
          </a:prstGeom>
          <a:solidFill>
            <a:srgbClr val="D7E3F4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4566" y="5392341"/>
            <a:ext cx="189007" cy="15120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724779" y="5391348"/>
            <a:ext cx="565423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El desarrollo del 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Taller 10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fortaleció la capacidad de analizar un problema, organizar su solución en un flujo lógico y convertirla en pseudocódigo, dejando todo organizado en la carpeta 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Deber_6-P3 Pseudocodigo del Taller 10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2026-08-11T17:41:57Z</dcterms:created>
  <dcterms:modified xsi:type="dcterms:W3CDTF">2026-08-11T17:41:57Z</dcterms:modified>
</cp:coreProperties>
</file>